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5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" y="320040"/>
            <a:ext cx="2011680" cy="29260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3383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ENTERPRISE CHALLENGE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7498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SmartCare 5.0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Extensão de Logística com Inteligência Artificial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5029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E0EFF0"/>
                </a:solidFill>
              </a:rPr>
              <a:t>Mentorado por  LEROY MERLIN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70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C39A"/>
                </a:solidFill>
              </a:rPr>
              <a:t>EQUIPE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871216"/>
            <a:ext cx="8046720" cy="0"/>
          </a:xfrm>
          <a:prstGeom prst="line">
            <a:avLst/>
          </a:prstGeom>
          <a:noFill/>
          <a:ln w="9525">
            <a:solidFill>
              <a:srgbClr val="0A30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85800" y="294436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F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280160" y="2990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Meira Macedo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255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6"/>
                </a:solidFill>
              </a:rPr>
              <a:t>RM 555789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944368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0" y="2944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F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5349240" y="2990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Flávio Fujita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32552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6"/>
                </a:solidFill>
              </a:rPr>
              <a:t>RM 555085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7033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G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128016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Guilherme do Amaral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4014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6"/>
                </a:solidFill>
              </a:rPr>
              <a:t>RM 556376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G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34924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Gustavo Serafim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4014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A96"/>
                </a:solidFill>
              </a:rPr>
              <a:t>RM 558538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82880" y="489661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Enterprise Challenge  |  Leroy Merlin  |  2024</a:t>
            </a:r>
            <a:endParaRPr lang="en-US" sz="7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38885F73-A993-F171-038C-C764767E2871}"/>
              </a:ext>
            </a:extLst>
          </p:cNvPr>
          <p:cNvSpPr/>
          <p:nvPr/>
        </p:nvSpPr>
        <p:spPr>
          <a:xfrm>
            <a:off x="3574576" y="219062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kern="0" spc="100" dirty="0">
                <a:solidFill>
                  <a:srgbClr val="E0EFF0"/>
                </a:solidFill>
              </a:rPr>
              <a:t>https://www.youtube.com/watch?v=pVEi4TRVFcU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B"/>
          </a:solidFill>
          <a:ln w="12700">
            <a:solidFill>
              <a:srgbClr val="021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&amp; PROBLEMA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0EFF0"/>
                </a:solidFill>
              </a:rPr>
              <a:t>O que o SmartCare resolve — e por que isso importa agora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Sociedade 5.0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2C3A"/>
                </a:solidFill>
              </a:rPr>
              <a:t>A Sociedade 5.0 propõe um modelo </a:t>
            </a:r>
            <a:r>
              <a:rPr lang="en-US" sz="1050" b="1" dirty="0">
                <a:solidFill>
                  <a:srgbClr val="0D2C3A"/>
                </a:solidFill>
              </a:rPr>
              <a:t>centrado no ser humano</a:t>
            </a:r>
            <a:r>
              <a:rPr lang="en-US" sz="1050" dirty="0">
                <a:solidFill>
                  <a:srgbClr val="0D2C3A"/>
                </a:solidFill>
              </a:rPr>
              <a:t>, onde IA, dados e conectividade resolvem desafios sociais reais — saúde, bem-estar e qualidade de vida.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 atual: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C3A"/>
                </a:solidFill>
              </a:rPr>
              <a:t>Baixa adesão a rotinas de autocuidado e prevenção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C3A"/>
                </a:solidFill>
              </a:rPr>
              <a:t>Dificuldade de acompanhar sinais do próprio corpo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C3A"/>
                </a:solidFill>
              </a:rPr>
              <a:t>Falta de suporte no momento certo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C3A"/>
                </a:solidFill>
              </a:rPr>
              <a:t>Sobrecarga dos serviços de atendimento de saúde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C3A"/>
                </a:solidFill>
              </a:rPr>
              <a:t>Ausência de visibilidade sobre filas e tempos de espera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977640" cy="1097280"/>
          </a:xfrm>
          <a:prstGeom prst="rect">
            <a:avLst/>
          </a:prstGeom>
          <a:solidFill>
            <a:srgbClr val="0A3044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6400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7947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16093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das pessoas não seguem rotinas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de saúde preventiva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2304288"/>
            <a:ext cx="3977640" cy="1097280"/>
          </a:xfrm>
          <a:prstGeom prst="rect">
            <a:avLst/>
          </a:prstGeom>
          <a:solidFill>
            <a:srgbClr val="0A3044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800600" y="2304288"/>
            <a:ext cx="6400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7947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2.4h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290779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tempo médio de espera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em unidades de saúde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3602736"/>
            <a:ext cx="3977640" cy="1097280"/>
          </a:xfrm>
          <a:prstGeom prst="rect">
            <a:avLst/>
          </a:prstGeom>
          <a:solidFill>
            <a:srgbClr val="0A3044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800600" y="3602736"/>
            <a:ext cx="64008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37760" y="3694176"/>
            <a:ext cx="379476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</a:rPr>
              <a:t>5.0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Society – tecnologia 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0EFF0"/>
                </a:solidFill>
              </a:rPr>
              <a:t>serviço da humanidade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82880" y="48966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SmartCare 5.0  |  AI Logistics Extension  |  Enterprise Challenge – Leroy Merlin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32320" y="48966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02 / 09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B"/>
          </a:solidFill>
          <a:ln w="12700">
            <a:solidFill>
              <a:srgbClr val="021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SMARTCARE 5.0 — A SOLUÇÃO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0EFF0"/>
                </a:solidFill>
              </a:rPr>
              <a:t>Aplicativo mobile Kotlin de apoio ao autocuidado e prevenção em saúde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1268" y="14608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C3A"/>
                </a:solidFill>
              </a:rPr>
              <a:t>App Android (Kotlin) para rotinas, monitoramento de hábitos e insights de saúde. Foco em prevenção, autonomia e experiência 5.0.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48256" y="1124712"/>
            <a:ext cx="141732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48256" y="1133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Kotlin · Android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2089404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7472" y="2089404"/>
            <a:ext cx="153619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02336" y="227228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02336" y="2272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R</a:t>
            </a:r>
            <a:endParaRPr lang="en-US" sz="510" dirty="0"/>
          </a:p>
        </p:txBody>
      </p:sp>
      <p:sp>
        <p:nvSpPr>
          <p:cNvPr id="13" name="Text 11"/>
          <p:cNvSpPr/>
          <p:nvPr/>
        </p:nvSpPr>
        <p:spPr>
          <a:xfrm>
            <a:off x="786384" y="218084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Rotinas &amp; Lembretes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86384" y="2418588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Hidratação, pausas, sono e atividade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93392" y="2089404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993392" y="2089404"/>
            <a:ext cx="153619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2048256" y="227228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048256" y="2272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C</a:t>
            </a:r>
            <a:endParaRPr lang="en-US" sz="510" dirty="0"/>
          </a:p>
        </p:txBody>
      </p:sp>
      <p:sp>
        <p:nvSpPr>
          <p:cNvPr id="19" name="Text 17"/>
          <p:cNvSpPr/>
          <p:nvPr/>
        </p:nvSpPr>
        <p:spPr>
          <a:xfrm>
            <a:off x="2432304" y="218084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Check-ins Diários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2432304" y="2418588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Registro de hábitos, sintomas e estado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39312" y="2089404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639312" y="2089404"/>
            <a:ext cx="1536192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694176" y="227228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694176" y="2272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P</a:t>
            </a:r>
            <a:endParaRPr lang="en-US" sz="510" dirty="0"/>
          </a:p>
        </p:txBody>
      </p:sp>
      <p:sp>
        <p:nvSpPr>
          <p:cNvPr id="25" name="Text 23"/>
          <p:cNvSpPr/>
          <p:nvPr/>
        </p:nvSpPr>
        <p:spPr>
          <a:xfrm>
            <a:off x="4078224" y="218084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Painel de Evolução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078224" y="2418588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Gráficos semanais/mensais de progresso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3204972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47472" y="3204972"/>
            <a:ext cx="1536192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02336" y="3387852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02336" y="3387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A</a:t>
            </a:r>
            <a:endParaRPr lang="en-US" sz="510" dirty="0"/>
          </a:p>
        </p:txBody>
      </p:sp>
      <p:sp>
        <p:nvSpPr>
          <p:cNvPr id="31" name="Text 29"/>
          <p:cNvSpPr/>
          <p:nvPr/>
        </p:nvSpPr>
        <p:spPr>
          <a:xfrm>
            <a:off x="786384" y="329641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Alertas Preventivos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86384" y="3534156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Detecção de padrões de baixa regularidade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93392" y="3204972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1993392" y="3204972"/>
            <a:ext cx="1536192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2048256" y="3387852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2048256" y="3387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G</a:t>
            </a:r>
            <a:endParaRPr lang="en-US" sz="510" dirty="0"/>
          </a:p>
        </p:txBody>
      </p:sp>
      <p:sp>
        <p:nvSpPr>
          <p:cNvPr id="37" name="Text 35"/>
          <p:cNvSpPr/>
          <p:nvPr/>
        </p:nvSpPr>
        <p:spPr>
          <a:xfrm>
            <a:off x="2432304" y="329641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Agenda Pessoal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432304" y="3534156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Consultas, exames e metas unificadas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39312" y="3204972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F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639312" y="3204972"/>
            <a:ext cx="1536192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3694176" y="3387852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3694176" y="3387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</a:rPr>
              <a:t>I</a:t>
            </a:r>
            <a:endParaRPr lang="en-US" sz="510" dirty="0"/>
          </a:p>
        </p:txBody>
      </p:sp>
      <p:sp>
        <p:nvSpPr>
          <p:cNvPr id="43" name="Text 41"/>
          <p:cNvSpPr/>
          <p:nvPr/>
        </p:nvSpPr>
        <p:spPr>
          <a:xfrm>
            <a:off x="4078224" y="329641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D2C3A"/>
                </a:solidFill>
              </a:rPr>
              <a:t>Insights com IA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078224" y="3534156"/>
            <a:ext cx="1033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5060"/>
                </a:solidFill>
              </a:rPr>
              <a:t>Recomendações baseadas nos dados do usuário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04104" y="850392"/>
            <a:ext cx="1792224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6" name="Image 0" descr="C:/Users/User/Pictures/Screenshots/app img/Screenshot 2026-04-16 1624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914400"/>
            <a:ext cx="1664208" cy="352044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5381244" y="4526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8090"/>
                </a:solidFill>
              </a:rPr>
              <a:t>Início · Score de Saúde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7196328" y="850392"/>
            <a:ext cx="1792224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A"/>
            </a:solidFill>
            <a:prstDash val="solid"/>
          </a:ln>
          <a:effectLst>
            <a:outerShdw blurRad="177800" dist="635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9" name="Image 1" descr="C:/Users/User/Pictures/Screenshots/app img/Screenshot 2026-04-16 1624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914400"/>
            <a:ext cx="1664208" cy="352044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7214616" y="452628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28090"/>
                </a:solidFill>
              </a:rPr>
              <a:t>Dashboard Clínico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48"/>
          <p:cNvSpPr/>
          <p:nvPr/>
        </p:nvSpPr>
        <p:spPr>
          <a:xfrm>
            <a:off x="182880" y="48966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SmartCare 5.0  |  AI Logistics Extension  |  Enterprise Challenge – Leroy Merlin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7132320" y="48966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03 / 09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182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PROPOSTA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Extensão de Logística com 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0332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EFF0"/>
                </a:solidFill>
              </a:rPr>
              <a:t>Uma nova camada inteligente sobre o SmartCare — focada em experiência 5.0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8229600" cy="0"/>
          </a:xfrm>
          <a:prstGeom prst="line">
            <a:avLst/>
          </a:prstGeom>
          <a:noFill/>
          <a:ln w="12700">
            <a:solidFill>
              <a:srgbClr val="0A30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2029968" cy="3063240"/>
          </a:xfrm>
          <a:prstGeom prst="rect">
            <a:avLst/>
          </a:prstGeom>
          <a:solidFill>
            <a:srgbClr val="0A3044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225296" y="1783080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25296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⏱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Preditiva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2871216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FF0"/>
                </a:solidFill>
              </a:rPr>
              <a:t>Modelos ML preveem o tempo de atendimento com base em histórico, hora do dia e volume de pacientes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572768"/>
            <a:ext cx="2029968" cy="3063240"/>
          </a:xfrm>
          <a:prstGeom prst="rect">
            <a:avLst/>
          </a:prstGeom>
          <a:solidFill>
            <a:srgbClr val="0A3044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651760" y="1572768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374136" y="1783080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374136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📍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743200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Tracking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2871216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FF0"/>
                </a:solidFill>
              </a:rPr>
              <a:t>Acompanhamento em tempo real da jornada do paciente: filas, exames, consultas e saída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2029968" cy="3063240"/>
          </a:xfrm>
          <a:prstGeom prst="rect">
            <a:avLst/>
          </a:prstGeom>
          <a:solidFill>
            <a:srgbClr val="0A3044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800600" y="1572768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522976" y="1783080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522976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🔔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4892040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Notificações Proativas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2871216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FF0"/>
                </a:solidFill>
              </a:rPr>
              <a:t>Alertas personalizados: "Você será atendido em 12 min" — elimina incerteza e reduz ansiedade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1572768"/>
            <a:ext cx="2029968" cy="3063240"/>
          </a:xfrm>
          <a:prstGeom prst="rect">
            <a:avLst/>
          </a:prstGeom>
          <a:solidFill>
            <a:srgbClr val="0A3044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6949440" y="1572768"/>
            <a:ext cx="2029968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671816" y="1783080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71816" y="1783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✅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040880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Experiência 5.0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59168" y="2871216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FF0"/>
                </a:solidFill>
              </a:rPr>
              <a:t>Healthcare-as-a-Service: transparente, eficiente e centrado no paciente como cidadão digital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82880" y="489661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Enterprise Challenge  |  Leroy Merlin  |  2024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772400" y="48966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04 / 09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B"/>
          </a:solidFill>
          <a:ln w="12700">
            <a:solidFill>
              <a:srgbClr val="021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&amp; PREDIÇÕES COM 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0EFF0"/>
                </a:solidFill>
              </a:rPr>
              <a:t>Visibilidade completa da jornada do paciente — do registro ao atendimento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3504" y="9326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0350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C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C3A"/>
                </a:solidFill>
              </a:rPr>
              <a:t>Check-in Digital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53312" y="1133856"/>
            <a:ext cx="7315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700784" y="9326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70078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F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444752" y="1463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C3A"/>
                </a:solidFill>
              </a:rPr>
              <a:t>Fila Inteligente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50592" y="1133856"/>
            <a:ext cx="7315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798064" y="9326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9806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542032" y="1463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C3A"/>
                </a:solidFill>
              </a:rPr>
              <a:t>Exames Tracking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547872" y="1133856"/>
            <a:ext cx="7315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895344" y="9326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89534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639312" y="1463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C3A"/>
                </a:solidFill>
              </a:rPr>
              <a:t>Consulta Agendada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45152" y="1133856"/>
            <a:ext cx="73152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992624" y="9326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92624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V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736592" y="14630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C3A"/>
                </a:solidFill>
              </a:rPr>
              <a:t>Alta &amp; Feedback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7472" y="1847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 IA Prediz o Tempo de Atendimento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2194560"/>
            <a:ext cx="1709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47472" y="2194560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" y="228600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de Entrada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" y="2606040"/>
            <a:ext cx="1545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Histórico de atendimentos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Volume atual de pacientes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Horário e dia da semana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Tipo de consulta/exame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75688" y="3291840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2185416" y="2194560"/>
            <a:ext cx="1709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2185416" y="2194560"/>
            <a:ext cx="54864" cy="2377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2304288" y="228600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ML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04288" y="2606040"/>
            <a:ext cx="1545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Random Forest / XGBoost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Treinado em dados reais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Atualização contínua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Precisão monitorada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13632" y="3291840"/>
            <a:ext cx="914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023360" y="2194560"/>
            <a:ext cx="1709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023360" y="2194560"/>
            <a:ext cx="54864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142232" y="228600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42232" y="2606040"/>
            <a:ext cx="1545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Tempo estimado (min)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Margem de confiança (%)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Alerta ao paciente (app)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5060"/>
                </a:solidFill>
              </a:rPr>
              <a:t>Dashboard p/ gestores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32220" y="43834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8090"/>
                </a:solidFill>
              </a:rPr>
              <a:t>Fila Inteligente em tempo real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/>
          <p:cNvSpPr/>
          <p:nvPr/>
        </p:nvSpPr>
        <p:spPr>
          <a:xfrm>
            <a:off x="182880" y="48966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SmartCare 5.0  |  AI Logistics Extension  |  Enterprise Challenge – Leroy Merlin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132320" y="48966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05 / 09</a:t>
            </a:r>
            <a:endParaRPr lang="en-US" sz="70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D5EFB582-01F8-1538-A01D-DF9CEC1E6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92" y="475488"/>
            <a:ext cx="1880616" cy="3866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182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A896"/>
                </a:solidFill>
              </a:rPr>
              <a:t>COMUNICAÇÃO PROATIVA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Notificações Inteligentes em Tempo Real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68680" y="1124052"/>
            <a:ext cx="4754880" cy="1371600"/>
          </a:xfrm>
          <a:prstGeom prst="rect">
            <a:avLst/>
          </a:prstGeom>
          <a:solidFill>
            <a:srgbClr val="0A3044"/>
          </a:solidFill>
          <a:ln w="254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69848" y="129778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69848" y="12977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21B2B"/>
                </a:solidFill>
              </a:rPr>
              <a:t>🔔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691640" y="11880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SmartCare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11880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96"/>
                </a:solidFill>
              </a:rPr>
              <a:t>agora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14166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"Você será atendido em 12 min"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8189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FF0"/>
                </a:solidFill>
              </a:rPr>
              <a:t>Dr. Silva está pronto. Dirija-se à recepção.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3544" y="2677872"/>
            <a:ext cx="2267712" cy="658368"/>
          </a:xfrm>
          <a:prstGeom prst="rect">
            <a:avLst/>
          </a:prstGeom>
          <a:solidFill>
            <a:srgbClr val="0A3044"/>
          </a:solidFill>
          <a:ln w="12700">
            <a:solidFill>
              <a:srgbClr val="0A3044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923544" y="2677872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69848" y="28058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69848" y="280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Z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545336" y="2732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Incerteza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45336" y="297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FF0"/>
                </a:solidFill>
              </a:rPr>
              <a:t>Sabe exatamente quando será atendido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677872"/>
            <a:ext cx="2267712" cy="658368"/>
          </a:xfrm>
          <a:prstGeom prst="rect">
            <a:avLst/>
          </a:prstGeom>
          <a:solidFill>
            <a:srgbClr val="0A3044"/>
          </a:solidFill>
          <a:ln w="12700">
            <a:solidFill>
              <a:srgbClr val="0A3044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319272" y="2677872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465576" y="28058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465576" y="280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P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3941064" y="2732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Personalização Total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41064" y="297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FF0"/>
                </a:solidFill>
              </a:rPr>
              <a:t>Mensagem adaptada ao tipo de consulta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23544" y="3445968"/>
            <a:ext cx="2267712" cy="658368"/>
          </a:xfrm>
          <a:prstGeom prst="rect">
            <a:avLst/>
          </a:prstGeom>
          <a:solidFill>
            <a:srgbClr val="0A3044"/>
          </a:solidFill>
          <a:ln w="12700">
            <a:solidFill>
              <a:srgbClr val="0A3044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23544" y="3445968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69848" y="357398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069848" y="357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T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545336" y="350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 Real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545336" y="3738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FF0"/>
                </a:solidFill>
              </a:rPr>
              <a:t>Atualização dinâmica conforme a situação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19272" y="3445968"/>
            <a:ext cx="2267712" cy="658368"/>
          </a:xfrm>
          <a:prstGeom prst="rect">
            <a:avLst/>
          </a:prstGeom>
          <a:solidFill>
            <a:srgbClr val="0A3044"/>
          </a:solidFill>
          <a:ln w="12700">
            <a:solidFill>
              <a:srgbClr val="0A3044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319272" y="3445968"/>
            <a:ext cx="54864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3465576" y="357398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465576" y="357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E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3941064" y="350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Experiência 5.0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41064" y="3738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FF0"/>
                </a:solidFill>
              </a:rPr>
              <a:t>Saúde transparente e centrada no paciente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165501" y="43159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A896"/>
                </a:solidFill>
              </a:rPr>
              <a:t>Assistente IA SmartCare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182880" y="489661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Enterprise Challenge  |  Leroy Merlin  |  2024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772400" y="48966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06 / 09</a:t>
            </a:r>
            <a:endParaRPr lang="en-US" sz="700" dirty="0"/>
          </a:p>
        </p:txBody>
      </p:sp>
      <p:pic>
        <p:nvPicPr>
          <p:cNvPr id="43" name="Imagem 42">
            <a:extLst>
              <a:ext uri="{FF2B5EF4-FFF2-40B4-BE49-F238E27FC236}">
                <a16:creationId xmlns:a16="http://schemas.microsoft.com/office/drawing/2014/main" id="{FBE2EAB8-43CC-CB8C-18A4-DBE2DB6F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22" y="312906"/>
            <a:ext cx="1924334" cy="3956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B"/>
          </a:solidFill>
          <a:ln w="12700">
            <a:solidFill>
              <a:srgbClr val="021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 &amp; 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0EFF0"/>
                </a:solidFill>
              </a:rPr>
              <a:t>Arquitetura moderna, escalável e orientada a dados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54864" cy="16642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93776" y="1060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(Android)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138988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Kotlin + Jetpack Compose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MVVM Architecture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Room DB (local)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Retrofit / OkHttp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Firebase Push Notifications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889504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47472" y="2889504"/>
            <a:ext cx="54864" cy="16642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" y="29626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/ Cloud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" y="32918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API RESTful (Node/Python)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PostgreSQL + Redis Cache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Docker + Kubernetes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Firebase Auth &amp; Firestore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5060"/>
                </a:solidFill>
              </a:rPr>
              <a:t>CI/CD com GitHub Actions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87552"/>
            <a:ext cx="413308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54864" cy="3493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809744" y="10607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&amp; Data Science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26464"/>
            <a:ext cx="4133088" cy="457200"/>
          </a:xfrm>
          <a:prstGeom prst="rect">
            <a:avLst/>
          </a:prstGeom>
          <a:solidFill>
            <a:srgbClr val="E0EFF0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54880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Modelo de Predição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6459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Random Forest / XGBoost para tempo de espera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938528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54880" y="19751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Dados de Treino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157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Histórico de atendimentos, calendário e volume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133088" cy="457200"/>
          </a:xfrm>
          <a:prstGeom prst="rect">
            <a:avLst/>
          </a:prstGeom>
          <a:solidFill>
            <a:srgbClr val="E0EFF0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54880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Pipeline 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Python (scikit-learn, pandas) + MLflow tracking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754880" y="2999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Serving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FastAPI endpoint consumido pelo app Android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474720"/>
            <a:ext cx="4133088" cy="457200"/>
          </a:xfrm>
          <a:prstGeom prst="rect">
            <a:avLst/>
          </a:prstGeom>
          <a:solidFill>
            <a:srgbClr val="E0EFF0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754880" y="35112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Monitoramento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694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Drift detection, retraining automático mensal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986784"/>
            <a:ext cx="41330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F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754880" y="4023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Privacidade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5060"/>
                </a:solidFill>
              </a:rPr>
              <a:t>Dados anonimizados, LGPD-compliant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82880" y="48966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SmartCare 5.0  |  AI Logistics Extension  |  Enterprise Challenge – Leroy Merlin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32320" y="48966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07 / 09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2B"/>
          </a:solidFill>
          <a:ln w="12700">
            <a:solidFill>
              <a:srgbClr val="021B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029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&amp; EXPERIÊNCIA 5.0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29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E0EFF0"/>
                </a:solidFill>
              </a:rPr>
              <a:t>Resultados esperados e a visão de saúde como serviço centrado no cidadão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011680" cy="960120"/>
          </a:xfrm>
          <a:prstGeom prst="rect">
            <a:avLst/>
          </a:prstGeom>
          <a:solidFill>
            <a:srgbClr val="021B2B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93192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40%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3192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Redução no tempo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de espera percebido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23744" y="987552"/>
            <a:ext cx="2011680" cy="960120"/>
          </a:xfrm>
          <a:prstGeom prst="rect">
            <a:avLst/>
          </a:prstGeom>
          <a:solidFill>
            <a:srgbClr val="021B2B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523744" y="987552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69464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85%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9464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Satisfação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do paciente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0016" y="987552"/>
            <a:ext cx="2011680" cy="960120"/>
          </a:xfrm>
          <a:prstGeom prst="rect">
            <a:avLst/>
          </a:prstGeom>
          <a:solidFill>
            <a:srgbClr val="021B2B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700016" y="987552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45736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3x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45736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Engajamento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com o app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76288" y="987552"/>
            <a:ext cx="2011680" cy="960120"/>
          </a:xfrm>
          <a:prstGeom prst="rect">
            <a:avLst/>
          </a:prstGeom>
          <a:solidFill>
            <a:srgbClr val="021B2B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876288" y="987552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22008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100%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22008" y="1517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Transparência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0EFF0"/>
                </a:solidFill>
              </a:rPr>
              <a:t>na jornada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1214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3 Pilares da Experiência 5.0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" y="251460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47472" y="2514600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38912" y="2642616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3891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T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1033272" y="2679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" y="3264408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Paciente sabe cada etapa da jornada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Tempo de espera visível em tempo real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Comunicação clara e sem ruído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Histórico completo acessível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251460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291840" y="2514600"/>
            <a:ext cx="27432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3383280" y="2642616"/>
            <a:ext cx="512064" cy="51206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383280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E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3977640" y="2679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Eficiente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19856" y="3264408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IA otimiza alocação de recursos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Redução de filas desnecessárias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Predição antecipa gargalos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Gestores tomam decisões com dados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2514600"/>
            <a:ext cx="2743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236208" y="25146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327648" y="2642616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6327648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FFFFFF"/>
                </a:solidFill>
              </a:rPr>
              <a:t>C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6922008" y="2679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Centrado no Paciente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64224" y="3264408"/>
            <a:ext cx="2514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Experiência personalizada por perfil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Notificações no momento certo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Autonomia e controle para o usuário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5060"/>
                </a:solidFill>
              </a:rPr>
              <a:t>Saúde acessível e humana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82880" y="48966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SmartCare 5.0  |  AI Logistics Extension  |  Enterprise Challenge – Leroy Merlin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132320" y="48966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08 / 09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11480" y="0"/>
            <a:ext cx="87325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CONCLUSÃO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SmartCare 5.0: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9418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Futuro da Saúde é Inteligente, Proativo e Humano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1490472"/>
            <a:ext cx="8046720" cy="0"/>
          </a:xfrm>
          <a:prstGeom prst="line">
            <a:avLst/>
          </a:prstGeom>
          <a:noFill/>
          <a:ln w="12700">
            <a:solidFill>
              <a:srgbClr val="0A30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FF0"/>
                </a:solidFill>
              </a:rPr>
              <a:t>SmartCare 5.0 resolve um problema real: baixa adesão ao autocuidado e falta de visibilidade na jornada de saúde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FF0"/>
                </a:solidFill>
              </a:rPr>
              <a:t>A extensão de Logística com IA adiciona predição de tempo de atendimento, tracking do paciente e notificações proativas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FF0"/>
                </a:solidFill>
              </a:rPr>
              <a:t>Tecnologia Kotlin + ML + cloud entrega uma experiência 5.0: transparente, eficiente e centrada no paciente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0EFF0"/>
                </a:solidFill>
              </a:rPr>
              <a:t>Alinhado à missão da Leroy Merlin de levar inovação e experiência de serviço de excelência ao cliente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66160"/>
            <a:ext cx="8046720" cy="822960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36393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Prontos para transformar a experiência de saúde com dados e inteligência artificial.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9867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EFF0"/>
                </a:solidFill>
              </a:rPr>
              <a:t>Felipe  ·  Flávio  ·  Guilherme  ·  Gustavo  —  Smart HAS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82880" y="489661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Enterprise Challenge  |  Leroy Merlin  |  2024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0" y="48966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FFFFF"/>
                </a:solidFill>
              </a:rPr>
              <a:t>09 / 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989</Words>
  <Application>Microsoft Office PowerPoint</Application>
  <PresentationFormat>Apresentação na tela (16:9)</PresentationFormat>
  <Paragraphs>220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SmartCare 5.0 - AI Logistics Extension</dc:title>
  <dc:subject>PptxGenJS Presentation</dc:subject>
  <dc:creator>SmartCare Team</dc:creator>
  <cp:lastModifiedBy>Felipe Meira Macedo</cp:lastModifiedBy>
  <cp:revision>3</cp:revision>
  <dcterms:created xsi:type="dcterms:W3CDTF">2026-04-16T20:02:07Z</dcterms:created>
  <dcterms:modified xsi:type="dcterms:W3CDTF">2026-04-17T01:37:01Z</dcterms:modified>
</cp:coreProperties>
</file>